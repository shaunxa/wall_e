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53458"/>
  </p:normalViewPr>
  <p:slideViewPr>
    <p:cSldViewPr snapToGrid="0">
      <p:cViewPr varScale="1">
        <p:scale>
          <a:sx n="64" d="100"/>
          <a:sy n="64" d="100"/>
        </p:scale>
        <p:origin x="13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Original illustration generated with OpenAI image generation, 2026-08-20. The WALL•E + EVE reference is inspiration only; no film images or characters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[Sources]</a:t>
            </a:r>
          </a:p>
          <a:p>
            <a:r>
              <a:rPr dirty="0"/>
              <a:t>No external assets. Broad themes are original wording inspired by the user's stated WALL•E movie inspiration.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[Sources]</a:t>
            </a:r>
          </a:p>
          <a:p>
            <a:r>
              <a:t>User-provided LEGO robot photograph, supplied in chat on 2026-08-20.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[Sources]</a:t>
            </a:r>
          </a:p>
          <a:p>
            <a:r>
              <a:t>Original illustration generated with OpenAI image generation, 2026-08-20. Technical statements describe this project’s webcam and object-detection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[Sources]</a:t>
            </a:r>
          </a:p>
          <a:p>
            <a:r>
              <a:t>Original illustration generated with OpenAI image generation, 2026-08-20. Safety wording is based on this project’s stated hub safety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[Sources]</a:t>
            </a:r>
          </a:p>
          <a:p>
            <a:r>
              <a:t>Original illustration generated with OpenAI image generation, 2026-08-20.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ADA254-D2A8-B3D6-46B4-3B8666F00A1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1E0EFD-CFB2-7A3A-8142-39AF73067AF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2222"/>
            </a:avLst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BFA55E0-C22E-4A4D-B035-A900078A47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0" cy="6858000"/>
          </a:xfrm>
          <a:prstGeom prst="rect">
            <a:avLst/>
          </a:prstGeom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0098C0-A47B-4371-BC79-DADA5B1BCEAF}"/>
              </a:ext>
            </a:extLst>
          </p:cNvPr>
          <p:cNvSpPr>
            <a:spLocks noGrp="1"/>
          </p:cNvSpPr>
          <p:nvPr/>
        </p:nvSpPr>
        <p:spPr>
          <a:xfrm>
            <a:off x="742950" y="1447800"/>
            <a:ext cx="4953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FFF8E8"/>
                </a:solidFill>
              </a:defRPr>
            </a:pPr>
            <a:r>
              <a:rPr sz="4200" b="1">
                <a:solidFill>
                  <a:srgbClr val="FFF8E8"/>
                </a:solidFill>
              </a:rPr>
              <a:t>A LITTLE ROBOT</a:t>
            </a:r>
          </a:p>
          <a:p>
            <a:pPr algn="l">
              <a:defRPr sz="4200" b="1">
                <a:solidFill>
                  <a:srgbClr val="FFF8E8"/>
                </a:solidFill>
              </a:defRPr>
            </a:pPr>
            <a:r>
              <a:rPr sz="4200" b="1">
                <a:solidFill>
                  <a:srgbClr val="FFF8E8"/>
                </a:solidFill>
              </a:rPr>
              <a:t>WITH A BIG HEART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472DBC-9BF1-4A32-A100-7A32E9E8DE2E}"/>
              </a:ext>
            </a:extLst>
          </p:cNvPr>
          <p:cNvSpPr>
            <a:spLocks noGrp="1"/>
          </p:cNvSpPr>
          <p:nvPr/>
        </p:nvSpPr>
        <p:spPr>
          <a:xfrm>
            <a:off x="762000" y="38100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8BE4E0"/>
                </a:solidFill>
              </a:defRPr>
            </a:pPr>
            <a:r>
              <a:rPr sz="1950" b="1">
                <a:solidFill>
                  <a:srgbClr val="8BE4E0"/>
                </a:solidFill>
              </a:rPr>
              <a:t>A WALL•E + EVE–inspired build story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04DC2F-83F8-4293-8FB8-8EAED0CA3800}"/>
              </a:ext>
            </a:extLst>
          </p:cNvPr>
          <p:cNvSpPr>
            <a:spLocks noGrp="1"/>
          </p:cNvSpPr>
          <p:nvPr/>
        </p:nvSpPr>
        <p:spPr>
          <a:xfrm>
            <a:off x="762000" y="4438650"/>
            <a:ext cx="4381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How imagination becomes a robot that can see, explore, and help.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8F2FC1-E2C2-4793-809F-AE98448044CD}"/>
              </a:ext>
            </a:extLst>
          </p:cNvPr>
          <p:cNvSpPr>
            <a:spLocks noGrp="1"/>
          </p:cNvSpPr>
          <p:nvPr/>
        </p:nvSpPr>
        <p:spPr>
          <a:xfrm>
            <a:off x="762000" y="56769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8E8"/>
                </a:solidFill>
              </a:defRPr>
            </a:pPr>
            <a:r>
              <a:rPr sz="13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Made with LEGO + Raspberry Pi + curiosity</a:t>
            </a:r>
          </a:p>
        </p:txBody>
      </p:sp>
    </p:spTree>
    <p:extLst>
      <p:ext uri="{BB962C8B-B14F-4D97-AF65-F5344CB8AC3E}">
        <p14:creationId xmlns:p14="http://schemas.microsoft.com/office/powerpoint/2010/main" val="745464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9E17BCE-B851-41B2-BB7E-CC0EA87BB3F0}"/>
              </a:ext>
            </a:extLst>
          </p:cNvPr>
          <p:cNvSpPr>
            <a:spLocks noGrp="1"/>
          </p:cNvSpPr>
          <p:nvPr/>
        </p:nvSpPr>
        <p:spPr>
          <a:xfrm>
            <a:off x="666750" y="685800"/>
            <a:ext cx="10858500" cy="5486400"/>
          </a:xfrm>
          <a:prstGeom prst="roundRect">
            <a:avLst>
              <a:gd name="adj" fmla="val 2778"/>
            </a:avLst>
          </a:prstGeom>
          <a:solidFill>
            <a:srgbClr val="F0ECE0"/>
          </a:solidFill>
          <a:ln w="0">
            <a:solidFill>
              <a:srgbClr val="F0E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AAB88E-5B6E-4EA9-A614-31B7468867EF}"/>
              </a:ext>
            </a:extLst>
          </p:cNvPr>
          <p:cNvSpPr>
            <a:spLocks noGrp="1"/>
          </p:cNvSpPr>
          <p:nvPr/>
        </p:nvSpPr>
        <p:spPr>
          <a:xfrm>
            <a:off x="1047750" y="1066800"/>
            <a:ext cx="914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2238"/>
                </a:solidFill>
              </a:defRPr>
            </a:pPr>
            <a:r>
              <a:rPr sz="3150" b="1">
                <a:solidFill>
                  <a:srgbClr val="102238"/>
                </a:solidFill>
              </a:rPr>
              <a:t>WHY THIS MOVIE INSPIRES US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F7A19C-5FBB-46B7-B77D-FF0596C96CDF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828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>
                <a:solidFill>
                  <a:srgbClr val="395065"/>
                </a:solidFill>
              </a:defRPr>
            </a:pPr>
            <a:r>
              <a:rPr sz="2100" b="0">
                <a:solidFill>
                  <a:srgbClr val="395065"/>
                </a:solidFill>
              </a:rPr>
              <a:t>It reminds us that even a small robot can notice something important.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BD4238-C3D7-42DE-8A1E-D863887ED406}"/>
              </a:ext>
            </a:extLst>
          </p:cNvPr>
          <p:cNvSpPr>
            <a:spLocks noGrp="1"/>
          </p:cNvSpPr>
          <p:nvPr/>
        </p:nvSpPr>
        <p:spPr>
          <a:xfrm>
            <a:off x="1104900" y="2876550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3B8B1"/>
                </a:solidFill>
              </a:defRPr>
            </a:pPr>
            <a:r>
              <a:rPr sz="2250" b="1">
                <a:solidFill>
                  <a:srgbClr val="13B8B1"/>
                </a:solidFill>
              </a:rPr>
              <a:t>BE CURIOUS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54AE97-DE84-46A2-A1D6-6AB6646679D4}"/>
              </a:ext>
            </a:extLst>
          </p:cNvPr>
          <p:cNvSpPr>
            <a:spLocks noGrp="1"/>
          </p:cNvSpPr>
          <p:nvPr/>
        </p:nvSpPr>
        <p:spPr>
          <a:xfrm>
            <a:off x="1104900" y="3381375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02238"/>
                </a:solidFill>
              </a:defRPr>
            </a:pPr>
            <a:r>
              <a:rPr sz="1800" b="0">
                <a:solidFill>
                  <a:srgbClr val="102238"/>
                </a:solidFill>
              </a:rPr>
              <a:t>Ask: “What is that?”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C18D66-E76A-4407-9A31-BCE0591E353E}"/>
              </a:ext>
            </a:extLst>
          </p:cNvPr>
          <p:cNvSpPr>
            <a:spLocks noGrp="1"/>
          </p:cNvSpPr>
          <p:nvPr/>
        </p:nvSpPr>
        <p:spPr>
          <a:xfrm>
            <a:off x="4610100" y="2876550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F7A59"/>
                </a:solidFill>
              </a:defRPr>
            </a:pPr>
            <a:r>
              <a:rPr sz="2250" b="1">
                <a:solidFill>
                  <a:srgbClr val="FF7A59"/>
                </a:solidFill>
              </a:rPr>
              <a:t>BE KIND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799D75-B2DD-49A5-A0E9-790615225A16}"/>
              </a:ext>
            </a:extLst>
          </p:cNvPr>
          <p:cNvSpPr>
            <a:spLocks noGrp="1"/>
          </p:cNvSpPr>
          <p:nvPr/>
        </p:nvSpPr>
        <p:spPr>
          <a:xfrm>
            <a:off x="4610100" y="3381375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02238"/>
                </a:solidFill>
              </a:defRPr>
            </a:pPr>
            <a:r>
              <a:rPr sz="1800" b="0">
                <a:solidFill>
                  <a:srgbClr val="102238"/>
                </a:solidFill>
              </a:rPr>
              <a:t>Use inventions to help.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B58199-61DC-4C4E-A0B8-2A25CE7BD52B}"/>
              </a:ext>
            </a:extLst>
          </p:cNvPr>
          <p:cNvSpPr>
            <a:spLocks noGrp="1"/>
          </p:cNvSpPr>
          <p:nvPr/>
        </p:nvSpPr>
        <p:spPr>
          <a:xfrm>
            <a:off x="8096250" y="2876550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9B63A"/>
                </a:solidFill>
              </a:defRPr>
            </a:pPr>
            <a:r>
              <a:rPr sz="2250" b="1">
                <a:solidFill>
                  <a:srgbClr val="F9B63A"/>
                </a:solidFill>
              </a:rPr>
              <a:t>WORK TOGETHER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072B72-743D-465B-9646-96F6BD858D56}"/>
              </a:ext>
            </a:extLst>
          </p:cNvPr>
          <p:cNvSpPr>
            <a:spLocks noGrp="1"/>
          </p:cNvSpPr>
          <p:nvPr/>
        </p:nvSpPr>
        <p:spPr>
          <a:xfrm>
            <a:off x="8096250" y="3381375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02238"/>
                </a:solidFill>
              </a:defRPr>
            </a:pPr>
            <a:r>
              <a:rPr sz="1800" b="0">
                <a:solidFill>
                  <a:srgbClr val="102238"/>
                </a:solidFill>
              </a:rPr>
              <a:t>Great ideas need a team.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039FEA-EE13-40BE-96B7-B25B0702E691}"/>
              </a:ext>
            </a:extLst>
          </p:cNvPr>
          <p:cNvSpPr>
            <a:spLocks noGrp="1"/>
          </p:cNvSpPr>
          <p:nvPr/>
        </p:nvSpPr>
        <p:spPr>
          <a:xfrm>
            <a:off x="1047750" y="4857750"/>
            <a:ext cx="9906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02238"/>
                </a:solidFill>
              </a:defRPr>
            </a:pPr>
            <a:r>
              <a:rPr sz="1875" b="1" dirty="0">
                <a:solidFill>
                  <a:srgbClr val="102238"/>
                </a:solidFill>
              </a:rPr>
              <a:t>Our robot is not a movie character. It is our own invention with the same hopeful spirit.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3AFC35-6012-4638-9E00-F3290834D93C}"/>
              </a:ext>
            </a:extLst>
          </p:cNvPr>
          <p:cNvSpPr>
            <a:spLocks noGrp="1"/>
          </p:cNvSpPr>
          <p:nvPr/>
        </p:nvSpPr>
        <p:spPr>
          <a:xfrm>
            <a:off x="762000" y="6477000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C7D8E5"/>
                </a:solidFill>
              </a:defRPr>
            </a:pPr>
            <a:r>
              <a:rPr sz="975" b="1">
                <a:solidFill>
                  <a:srgbClr val="C7D8E5"/>
                </a:solidFill>
              </a:rPr>
              <a:t>2  •  OUR ROBOT STORY</a:t>
            </a:r>
          </a:p>
        </p:txBody>
      </p:sp>
    </p:spTree>
    <p:extLst>
      <p:ext uri="{BB962C8B-B14F-4D97-AF65-F5344CB8AC3E}">
        <p14:creationId xmlns:p14="http://schemas.microsoft.com/office/powerpoint/2010/main" val="1679637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8E5BCB2-6E1B-4ABC-A3EF-0CDE692B82F3}"/>
              </a:ext>
            </a:extLst>
          </p:cNvPr>
          <p:cNvSpPr>
            <a:spLocks noGrp="1"/>
          </p:cNvSpPr>
          <p:nvPr/>
        </p:nvSpPr>
        <p:spPr>
          <a:xfrm>
            <a:off x="742950" y="666750"/>
            <a:ext cx="685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FFF8E8"/>
                </a:solidFill>
              </a:defRPr>
            </a:pPr>
            <a:r>
              <a:rPr sz="3300" b="1">
                <a:solidFill>
                  <a:srgbClr val="FFF8E8"/>
                </a:solidFill>
              </a:rPr>
              <a:t>MEET OUR REAL-LIFE ROBOT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DB264A-6C72-40E8-A843-1F421968FC69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48577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0">
                <a:solidFill>
                  <a:srgbClr val="8BE4E0"/>
                </a:solidFill>
              </a:defRPr>
            </a:pPr>
            <a:r>
              <a:rPr sz="2175" b="0">
                <a:solidFill>
                  <a:srgbClr val="8BE4E0"/>
                </a:solidFill>
              </a:rPr>
              <a:t>We built a playful robot friend with a Raspberry Pi brain and a webcam eye.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A8EEAD-94B5-4060-8BD6-C12E75D36953}"/>
              </a:ext>
            </a:extLst>
          </p:cNvPr>
          <p:cNvSpPr>
            <a:spLocks noGrp="1"/>
          </p:cNvSpPr>
          <p:nvPr/>
        </p:nvSpPr>
        <p:spPr>
          <a:xfrm>
            <a:off x="762000" y="3124200"/>
            <a:ext cx="46196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It is made from LEGO parts, sensors, motors, wires… and lots of experimenting.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31DCF9B-CDF7-4959-A1DE-E7905472BB1A}"/>
              </a:ext>
            </a:extLst>
          </p:cNvPr>
          <p:cNvSpPr>
            <a:spLocks noGrp="1"/>
          </p:cNvSpPr>
          <p:nvPr/>
        </p:nvSpPr>
        <p:spPr>
          <a:xfrm>
            <a:off x="742950" y="4686300"/>
            <a:ext cx="4381500" cy="876300"/>
          </a:xfrm>
          <a:prstGeom prst="roundRect">
            <a:avLst>
              <a:gd name="adj" fmla="val 17391"/>
            </a:avLst>
          </a:prstGeom>
          <a:solidFill>
            <a:srgbClr val="123B56"/>
          </a:solidFill>
          <a:ln w="0">
            <a:solidFill>
              <a:srgbClr val="123B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6FA85A-AB61-438D-8C5E-EAD2F4A0F555}"/>
              </a:ext>
            </a:extLst>
          </p:cNvPr>
          <p:cNvSpPr>
            <a:spLocks noGrp="1"/>
          </p:cNvSpPr>
          <p:nvPr/>
        </p:nvSpPr>
        <p:spPr>
          <a:xfrm>
            <a:off x="1109041" y="4914900"/>
            <a:ext cx="364186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9B63A"/>
                </a:solidFill>
              </a:defRPr>
            </a:pPr>
            <a:r>
              <a:rPr sz="1725" b="1" dirty="0">
                <a:solidFill>
                  <a:srgbClr val="F9B63A"/>
                </a:solidFill>
              </a:rPr>
              <a:t>The best inventions begin with: “What if…?”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3A9732-C274-49E9-B1C0-07775D74C8DD}"/>
              </a:ext>
            </a:extLst>
          </p:cNvPr>
          <p:cNvSpPr>
            <a:spLocks noGrp="1"/>
          </p:cNvSpPr>
          <p:nvPr/>
        </p:nvSpPr>
        <p:spPr>
          <a:xfrm>
            <a:off x="762000" y="6477000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C7D8E5"/>
                </a:solidFill>
              </a:defRPr>
            </a:pPr>
            <a:r>
              <a:rPr sz="975" b="1">
                <a:solidFill>
                  <a:srgbClr val="C7D8E5"/>
                </a:solidFill>
              </a:rPr>
              <a:t>3  •  OUR ROBOT STORY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967CDF-9408-34C7-596D-5B4B31F5A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175" y="666750"/>
            <a:ext cx="4333875" cy="577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320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rcRect l="7333" r="7333"/>
          <a:stretch>
            <a:fillRect/>
          </a:stretch>
        </p:blipFill>
        <p:spPr>
          <a:xfrm>
            <a:off x="5429250" y="800100"/>
            <a:ext cx="6096000" cy="4762500"/>
          </a:xfrm>
          <a:prstGeom prst="roundRect">
            <a:avLst>
              <a:gd name="adj" fmla="val 3200"/>
            </a:avLst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DC69473-BD60-4342-A76B-EE23214BB186}"/>
              </a:ext>
            </a:extLst>
          </p:cNvPr>
          <p:cNvSpPr>
            <a:spLocks noGrp="1"/>
          </p:cNvSpPr>
          <p:nvPr/>
        </p:nvSpPr>
        <p:spPr>
          <a:xfrm>
            <a:off x="762000" y="876300"/>
            <a:ext cx="4333875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>
                <a:solidFill>
                  <a:srgbClr val="102238"/>
                </a:solidFill>
              </a:defRPr>
            </a:pPr>
            <a:r>
              <a:rPr sz="3075" b="1">
                <a:solidFill>
                  <a:srgbClr val="102238"/>
                </a:solidFill>
              </a:rPr>
              <a:t>A ROBOT MISSION:</a:t>
            </a:r>
          </a:p>
          <a:p>
            <a:pPr algn="l">
              <a:defRPr sz="3075" b="1">
                <a:solidFill>
                  <a:srgbClr val="102238"/>
                </a:solidFill>
              </a:defRPr>
            </a:pPr>
            <a:r>
              <a:rPr sz="3075" b="1">
                <a:solidFill>
                  <a:srgbClr val="102238"/>
                </a:solidFill>
              </a:rPr>
              <a:t>NOTICE • THINK • HELP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909D51-ABDE-43A2-937F-6C6632533D64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571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3B8B1"/>
                </a:solidFill>
              </a:defRPr>
            </a:pPr>
            <a:r>
              <a:rPr sz="3150" b="1">
                <a:solidFill>
                  <a:srgbClr val="13B8B1"/>
                </a:solidFill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FAE7D0-DBE8-4041-A801-987348A94B47}"/>
              </a:ext>
            </a:extLst>
          </p:cNvPr>
          <p:cNvSpPr>
            <a:spLocks noGrp="1"/>
          </p:cNvSpPr>
          <p:nvPr/>
        </p:nvSpPr>
        <p:spPr>
          <a:xfrm>
            <a:off x="1504950" y="2619375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02238"/>
                </a:solidFill>
              </a:defRPr>
            </a:pPr>
            <a:r>
              <a:rPr sz="2100" b="1">
                <a:solidFill>
                  <a:srgbClr val="102238"/>
                </a:solidFill>
              </a:rPr>
              <a:t>NOTICE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9687BE-6ACE-4DF1-843B-E28A2D695490}"/>
              </a:ext>
            </a:extLst>
          </p:cNvPr>
          <p:cNvSpPr>
            <a:spLocks noGrp="1"/>
          </p:cNvSpPr>
          <p:nvPr/>
        </p:nvSpPr>
        <p:spPr>
          <a:xfrm>
            <a:off x="1504950" y="3048000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395065"/>
                </a:solidFill>
              </a:defRPr>
            </a:pPr>
            <a:r>
              <a:rPr sz="1575" b="0">
                <a:solidFill>
                  <a:srgbClr val="395065"/>
                </a:solidFill>
              </a:rPr>
              <a:t>A camera gives the robot a view of the world.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1EF503-8DBA-4CD8-9BE9-302A07D98278}"/>
              </a:ext>
            </a:extLst>
          </p:cNvPr>
          <p:cNvSpPr>
            <a:spLocks noGrp="1"/>
          </p:cNvSpPr>
          <p:nvPr/>
        </p:nvSpPr>
        <p:spPr>
          <a:xfrm>
            <a:off x="857250" y="3943350"/>
            <a:ext cx="571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7A59"/>
                </a:solidFill>
              </a:defRPr>
            </a:pPr>
            <a:r>
              <a:rPr sz="3150" b="1">
                <a:solidFill>
                  <a:srgbClr val="FF7A59"/>
                </a:solidFill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8F183C-B278-4BB6-96BB-48EA2CF3BF59}"/>
              </a:ext>
            </a:extLst>
          </p:cNvPr>
          <p:cNvSpPr>
            <a:spLocks noGrp="1"/>
          </p:cNvSpPr>
          <p:nvPr/>
        </p:nvSpPr>
        <p:spPr>
          <a:xfrm>
            <a:off x="1504950" y="3990975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02238"/>
                </a:solidFill>
              </a:defRPr>
            </a:pPr>
            <a:r>
              <a:rPr sz="2100" b="1">
                <a:solidFill>
                  <a:srgbClr val="102238"/>
                </a:solidFill>
              </a:rPr>
              <a:t>THINK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41FF5C-F49D-42D9-A42D-D8D0A1C3DFE0}"/>
              </a:ext>
            </a:extLst>
          </p:cNvPr>
          <p:cNvSpPr>
            <a:spLocks noGrp="1"/>
          </p:cNvSpPr>
          <p:nvPr/>
        </p:nvSpPr>
        <p:spPr>
          <a:xfrm>
            <a:off x="1504950" y="4419600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395065"/>
                </a:solidFill>
              </a:defRPr>
            </a:pPr>
            <a:r>
              <a:rPr sz="1575" b="0">
                <a:solidFill>
                  <a:srgbClr val="395065"/>
                </a:solidFill>
              </a:rPr>
              <a:t>A tiny AI model helps spot everyday objects.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C74CD0-4155-4FD4-994B-EED30331DB05}"/>
              </a:ext>
            </a:extLst>
          </p:cNvPr>
          <p:cNvSpPr>
            <a:spLocks noGrp="1"/>
          </p:cNvSpPr>
          <p:nvPr/>
        </p:nvSpPr>
        <p:spPr>
          <a:xfrm>
            <a:off x="857250" y="5314950"/>
            <a:ext cx="571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9B63A"/>
                </a:solidFill>
              </a:defRPr>
            </a:pPr>
            <a:r>
              <a:rPr sz="3150" b="1">
                <a:solidFill>
                  <a:srgbClr val="F9B63A"/>
                </a:solidFill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72500B-1BF5-4176-9290-998A0E393012}"/>
              </a:ext>
            </a:extLst>
          </p:cNvPr>
          <p:cNvSpPr>
            <a:spLocks noGrp="1"/>
          </p:cNvSpPr>
          <p:nvPr/>
        </p:nvSpPr>
        <p:spPr>
          <a:xfrm>
            <a:off x="1504950" y="5362575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02238"/>
                </a:solidFill>
              </a:defRPr>
            </a:pPr>
            <a:r>
              <a:rPr sz="2100" b="1">
                <a:solidFill>
                  <a:srgbClr val="102238"/>
                </a:solidFill>
              </a:rPr>
              <a:t>HELP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27B8E6-D6FA-4C27-9EB2-0C5E7FD4E53E}"/>
              </a:ext>
            </a:extLst>
          </p:cNvPr>
          <p:cNvSpPr>
            <a:spLocks noGrp="1"/>
          </p:cNvSpPr>
          <p:nvPr/>
        </p:nvSpPr>
        <p:spPr>
          <a:xfrm>
            <a:off x="1504950" y="5791200"/>
            <a:ext cx="3238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395065"/>
                </a:solidFill>
              </a:defRPr>
            </a:pPr>
            <a:r>
              <a:rPr sz="1575" b="0">
                <a:solidFill>
                  <a:srgbClr val="395065"/>
                </a:solidFill>
              </a:rPr>
              <a:t>People choose what the robot does next—safely.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C40290-2ACD-444E-A66F-C2B643CFAACC}"/>
              </a:ext>
            </a:extLst>
          </p:cNvPr>
          <p:cNvSpPr>
            <a:spLocks noGrp="1"/>
          </p:cNvSpPr>
          <p:nvPr/>
        </p:nvSpPr>
        <p:spPr>
          <a:xfrm>
            <a:off x="762000" y="6477000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C7D8E5"/>
                </a:solidFill>
              </a:defRPr>
            </a:pPr>
            <a:r>
              <a:rPr sz="975" b="1">
                <a:solidFill>
                  <a:srgbClr val="C7D8E5"/>
                </a:solidFill>
              </a:rPr>
              <a:t>4  •  OUR ROBOT STORY</a:t>
            </a:r>
          </a:p>
        </p:txBody>
      </p:sp>
    </p:spTree>
    <p:extLst>
      <p:ext uri="{BB962C8B-B14F-4D97-AF65-F5344CB8AC3E}">
        <p14:creationId xmlns:p14="http://schemas.microsoft.com/office/powerpoint/2010/main" val="1516510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2222"/>
            </a:avLst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21CB4E4-98C7-473D-B84B-97E0C314A608}"/>
              </a:ext>
            </a:extLst>
          </p:cNvPr>
          <p:cNvSpPr>
            <a:spLocks noGrp="1"/>
          </p:cNvSpPr>
          <p:nvPr/>
        </p:nvSpPr>
        <p:spPr>
          <a:xfrm>
            <a:off x="590550" y="685800"/>
            <a:ext cx="5143500" cy="5219700"/>
          </a:xfrm>
          <a:prstGeom prst="roundRect">
            <a:avLst>
              <a:gd name="adj" fmla="val 2963"/>
            </a:avLst>
          </a:prstGeom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598F60-BFD1-4980-975E-3FBD12B69AFC}"/>
              </a:ext>
            </a:extLst>
          </p:cNvPr>
          <p:cNvSpPr>
            <a:spLocks noGrp="1"/>
          </p:cNvSpPr>
          <p:nvPr/>
        </p:nvSpPr>
        <p:spPr>
          <a:xfrm>
            <a:off x="971550" y="1123950"/>
            <a:ext cx="4000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75" b="1">
                <a:solidFill>
                  <a:srgbClr val="FFF8E8"/>
                </a:solidFill>
              </a:defRPr>
            </a:pPr>
            <a:r>
              <a:rPr sz="3375" b="1">
                <a:solidFill>
                  <a:srgbClr val="FFF8E8"/>
                </a:solidFill>
              </a:rPr>
              <a:t>TWO ROBOT</a:t>
            </a:r>
          </a:p>
          <a:p>
            <a:pPr algn="l">
              <a:defRPr sz="3375" b="1">
                <a:solidFill>
                  <a:srgbClr val="FFF8E8"/>
                </a:solidFill>
              </a:defRPr>
            </a:pPr>
            <a:r>
              <a:rPr sz="3375" b="1">
                <a:solidFill>
                  <a:srgbClr val="FFF8E8"/>
                </a:solidFill>
              </a:rPr>
              <a:t>SUPERPOWERS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97146E-14CE-407C-82FF-A489DAEBD09C}"/>
              </a:ext>
            </a:extLst>
          </p:cNvPr>
          <p:cNvSpPr>
            <a:spLocks noGrp="1"/>
          </p:cNvSpPr>
          <p:nvPr/>
        </p:nvSpPr>
        <p:spPr>
          <a:xfrm>
            <a:off x="990600" y="27622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8BE4E0"/>
                </a:solidFill>
              </a:defRPr>
            </a:pPr>
            <a:r>
              <a:rPr sz="1875" b="1">
                <a:solidFill>
                  <a:srgbClr val="8BE4E0"/>
                </a:solidFill>
              </a:rPr>
              <a:t>THE EXPLORER EYE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718FCF-64AE-49F2-AD32-DBD9094E2829}"/>
              </a:ext>
            </a:extLst>
          </p:cNvPr>
          <p:cNvSpPr>
            <a:spLocks noGrp="1"/>
          </p:cNvSpPr>
          <p:nvPr/>
        </p:nvSpPr>
        <p:spPr>
          <a:xfrm>
            <a:off x="990600" y="3190875"/>
            <a:ext cx="371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It looks around and notices objects.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B8E707-DD9A-4E74-A131-45BB00D9C0EC}"/>
              </a:ext>
            </a:extLst>
          </p:cNvPr>
          <p:cNvSpPr>
            <a:spLocks noGrp="1"/>
          </p:cNvSpPr>
          <p:nvPr/>
        </p:nvSpPr>
        <p:spPr>
          <a:xfrm>
            <a:off x="990600" y="41910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8BE4E0"/>
                </a:solidFill>
              </a:defRPr>
            </a:pPr>
            <a:r>
              <a:rPr sz="1875" b="1">
                <a:solidFill>
                  <a:srgbClr val="8BE4E0"/>
                </a:solidFill>
              </a:rPr>
              <a:t>THE HELPER HEART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9C0D61-6197-4B5C-8B12-EAF2A6927FDB}"/>
              </a:ext>
            </a:extLst>
          </p:cNvPr>
          <p:cNvSpPr>
            <a:spLocks noGrp="1"/>
          </p:cNvSpPr>
          <p:nvPr/>
        </p:nvSpPr>
        <p:spPr>
          <a:xfrm>
            <a:off x="990600" y="4619625"/>
            <a:ext cx="3810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It only moves when a person gives a safe command.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120CD5-F178-4723-9AA5-7066FD7660CC}"/>
              </a:ext>
            </a:extLst>
          </p:cNvPr>
          <p:cNvSpPr>
            <a:spLocks noGrp="1"/>
          </p:cNvSpPr>
          <p:nvPr/>
        </p:nvSpPr>
        <p:spPr>
          <a:xfrm>
            <a:off x="762000" y="6477000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C7D8E5"/>
                </a:solidFill>
              </a:defRPr>
            </a:pPr>
            <a:r>
              <a:rPr sz="975" b="1">
                <a:solidFill>
                  <a:srgbClr val="C7D8E5"/>
                </a:solidFill>
              </a:rPr>
              <a:t>5  •  OUR ROBOT STORY</a:t>
            </a:r>
          </a:p>
        </p:txBody>
      </p:sp>
    </p:spTree>
    <p:extLst>
      <p:ext uri="{BB962C8B-B14F-4D97-AF65-F5344CB8AC3E}">
        <p14:creationId xmlns:p14="http://schemas.microsoft.com/office/powerpoint/2010/main" val="1630313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2222"/>
            </a:avLst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1236BD5-46F7-447D-A988-7C518311DCB0}"/>
              </a:ext>
            </a:extLst>
          </p:cNvPr>
          <p:cNvSpPr>
            <a:spLocks noGrp="1"/>
          </p:cNvSpPr>
          <p:nvPr/>
        </p:nvSpPr>
        <p:spPr>
          <a:xfrm>
            <a:off x="838200" y="876300"/>
            <a:ext cx="5429250" cy="4762500"/>
          </a:xfrm>
          <a:prstGeom prst="roundRect">
            <a:avLst>
              <a:gd name="adj" fmla="val 3200"/>
            </a:avLst>
          </a:prstGeom>
          <a:ln w="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1BCD3F-B9A5-4FAC-9E1E-A94CF9B0F879}"/>
              </a:ext>
            </a:extLst>
          </p:cNvPr>
          <p:cNvSpPr>
            <a:spLocks noGrp="1"/>
          </p:cNvSpPr>
          <p:nvPr/>
        </p:nvSpPr>
        <p:spPr>
          <a:xfrm>
            <a:off x="1257300" y="1314450"/>
            <a:ext cx="40957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FFF8E8"/>
                </a:solidFill>
              </a:defRPr>
            </a:pPr>
            <a:r>
              <a:rPr sz="4050" b="1">
                <a:solidFill>
                  <a:srgbClr val="FFF8E8"/>
                </a:solidFill>
              </a:rPr>
              <a:t>WHAT WILL</a:t>
            </a:r>
          </a:p>
          <a:p>
            <a:pPr algn="l">
              <a:defRPr sz="4050" b="1">
                <a:solidFill>
                  <a:srgbClr val="FFF8E8"/>
                </a:solidFill>
              </a:defRPr>
            </a:pPr>
            <a:r>
              <a:rPr sz="4050" b="1">
                <a:solidFill>
                  <a:srgbClr val="FFF8E8"/>
                </a:solidFill>
              </a:rPr>
              <a:t>YOU BUILD?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3FF0DB-428D-47CE-9F7D-4C83DDC654E0}"/>
              </a:ext>
            </a:extLst>
          </p:cNvPr>
          <p:cNvSpPr>
            <a:spLocks noGrp="1"/>
          </p:cNvSpPr>
          <p:nvPr/>
        </p:nvSpPr>
        <p:spPr>
          <a:xfrm>
            <a:off x="1257300" y="2952750"/>
            <a:ext cx="409575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A robot that helps recycle?</a:t>
            </a:r>
          </a:p>
          <a:p>
            <a:pPr algn="l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A robot that explores a garden?</a:t>
            </a:r>
          </a:p>
          <a:p>
            <a:pPr algn="l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A robot that makes someone smile?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1599A8-BE79-4A08-9A53-376F0D417103}"/>
              </a:ext>
            </a:extLst>
          </p:cNvPr>
          <p:cNvSpPr>
            <a:spLocks noGrp="1"/>
          </p:cNvSpPr>
          <p:nvPr/>
        </p:nvSpPr>
        <p:spPr>
          <a:xfrm>
            <a:off x="1257300" y="4762500"/>
            <a:ext cx="3714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71A32"/>
                </a:solidFill>
              </a:defRPr>
            </a:pPr>
            <a:r>
              <a:rPr sz="2100" b="1">
                <a:solidFill>
                  <a:srgbClr val="071A32"/>
                </a:solidFill>
              </a:rPr>
              <a:t>Start with a question.</a:t>
            </a:r>
          </a:p>
          <a:p>
            <a:pPr algn="l">
              <a:defRPr sz="2100" b="1">
                <a:solidFill>
                  <a:srgbClr val="071A32"/>
                </a:solidFill>
              </a:defRPr>
            </a:pPr>
            <a:r>
              <a:rPr sz="2100" b="1">
                <a:solidFill>
                  <a:srgbClr val="071A32"/>
                </a:solidFill>
              </a:rPr>
              <a:t>Then build the answer.</a:t>
            </a:r>
          </a:p>
        </p:txBody>
      </p:sp>
    </p:spTree>
    <p:extLst>
      <p:ext uri="{BB962C8B-B14F-4D97-AF65-F5344CB8AC3E}">
        <p14:creationId xmlns:p14="http://schemas.microsoft.com/office/powerpoint/2010/main" val="2124120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25c952f-1947-4719-99e7-7bc5a76060a8}" enabled="1" method="Standard" siteId="{4e2c6054-71cb-48f1-bd6c-3a9705aca71b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420</Words>
  <Application>Microsoft Macintosh PowerPoint</Application>
  <DocSecurity>0</DocSecurity>
  <PresentationFormat>Widescreen</PresentationFormat>
  <Paragraphs>63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Shaun Shen</cp:lastModifiedBy>
  <cp:revision>6</cp:revision>
  <dcterms:created xsi:type="dcterms:W3CDTF">2026-08-20T03:44:52Z</dcterms:created>
  <dcterms:modified xsi:type="dcterms:W3CDTF">2026-08-20T04:04:18Z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ChatGPT:5</vt:lpwstr>
  </property>
  <property fmtid="{D5CDD505-2E9C-101B-9397-08002B2CF9AE}" pid="3" name="ClassificationContentMarkingFooterText">
    <vt:lpwstr>Confidential - Oracle Restricted \Employees Only</vt:lpwstr>
  </property>
  <property fmtid="{D5CDD505-2E9C-101B-9397-08002B2CF9AE}" pid="4" name="ClassificationContentMarkingHeaderLocations">
    <vt:lpwstr>ChatGPT:4</vt:lpwstr>
  </property>
  <property fmtid="{D5CDD505-2E9C-101B-9397-08002B2CF9AE}" pid="5" name="ClassificationContentMarkingHeaderText">
    <vt:lpwstr>Confidential - Oracle Restricted \Employees Only</vt:lpwstr>
  </property>
</Properties>
</file>